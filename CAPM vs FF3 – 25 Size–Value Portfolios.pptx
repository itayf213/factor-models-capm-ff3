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54A409-ABFA-454E-AA46-6BF8E81C1AC8}" type="datetimeFigureOut">
              <a:rPr lang="LID4096" smtClean="0"/>
              <a:t>12/30/2025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AC771-0E68-4B16-84FD-9D4290DF226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60349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2282E-4D27-D06F-9B39-5EF8FD700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AB848-CC5E-8674-F5FF-08A6C2F44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6548ED-1214-06D0-5F0D-1F93541E9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32016-E052-B397-B0DD-7913C7EDED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57EA63-F465-47F2-9584-A01E0362A166}" type="slidenum">
              <a:rPr kumimoji="0" lang="LID4096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LID4096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2162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06DD-B145-4E0F-9261-E6675C88924B}" type="datetime1">
              <a:rPr lang="LID4096" smtClean="0"/>
              <a:t>12/30/2025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Fully reproducible Python-based analysis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BA948-FDDB-4DEE-AA55-5CA1DE0DF8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86638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60D9-3039-406E-99E7-9C7E5E69431E}" type="datetime1">
              <a:rPr lang="LID4096" smtClean="0"/>
              <a:t>12/30/2025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Fully reproducible Python-based analysis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BA948-FDDB-4DEE-AA55-5CA1DE0DF8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28496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E2EB-8559-44B5-9BC8-700D9B2BBEE4}" type="datetime1">
              <a:rPr lang="LID4096" smtClean="0"/>
              <a:t>12/30/2025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Fully reproducible Python-based analysis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BA948-FDDB-4DEE-AA55-5CA1DE0DF8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02399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23370-F260-4823-A286-625936D15A23}" type="datetime1">
              <a:rPr lang="LID4096" smtClean="0"/>
              <a:t>12/30/2025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Fully reproducible Python-based analysis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BA948-FDDB-4DEE-AA55-5CA1DE0DF8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14168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8CFFC-4F83-4534-96A9-C2F14101DE9D}" type="datetime1">
              <a:rPr lang="LID4096" smtClean="0"/>
              <a:t>12/30/2025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Fully reproducible Python-based analysis</a:t>
            </a:r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BA948-FDDB-4DEE-AA55-5CA1DE0DF8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574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9C035-F8B9-4EDD-AB1A-125257E4998D}" type="datetime1">
              <a:rPr lang="LID4096" smtClean="0"/>
              <a:t>12/30/2025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Fully reproducible Python-based analysis</a:t>
            </a:r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BA948-FDDB-4DEE-AA55-5CA1DE0DF8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77096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A7F-49AC-4AE0-A3DD-1D9D46337E1B}" type="datetime1">
              <a:rPr lang="LID4096" smtClean="0"/>
              <a:t>12/30/2025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Fully reproducible Python-based analysis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BA948-FDDB-4DEE-AA55-5CA1DE0DF8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4178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FBE9C-259A-4DCF-914B-F506DFF53DDB}" type="datetime1">
              <a:rPr lang="LID4096" smtClean="0"/>
              <a:t>12/30/2025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Fully reproducible Python-based analysis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BA948-FDDB-4DEE-AA55-5CA1DE0DF8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49305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253D1-C349-4D8C-9F78-B74F0CADA040}" type="datetime1">
              <a:rPr lang="LID4096" smtClean="0"/>
              <a:t>12/30/2025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Fully reproducible Python-based analysis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BA948-FDDB-4DEE-AA55-5CA1DE0DF8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08742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CA3D2-CB58-4760-BB8D-5745BCD76ABB}" type="datetime1">
              <a:rPr lang="LID4096" smtClean="0"/>
              <a:t>12/30/2025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Fully reproducible Python-based analysis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BA948-FDDB-4DEE-AA55-5CA1DE0DF8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21071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F95D-E75F-4B75-BCED-1E8397E47752}" type="datetime1">
              <a:rPr lang="LID4096" smtClean="0"/>
              <a:t>12/30/2025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Fully reproducible Python-based analysis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BA948-FDDB-4DEE-AA55-5CA1DE0DF8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5086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D0C60-6BB3-44C6-9186-1CE65B3199FD}" type="datetime1">
              <a:rPr lang="LID4096" smtClean="0"/>
              <a:t>12/30/2025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Fully reproducible Python-based analysis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BA948-FDDB-4DEE-AA55-5CA1DE0DF80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3921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ayF213/factor-models-capm-ff3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35C05-725A-3ABB-16F8-D81CC8EE5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61D47-3919-ECF3-792E-3AE8DF4F64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98" y="1041400"/>
            <a:ext cx="11555604" cy="2387600"/>
          </a:xfrm>
        </p:spPr>
        <p:txBody>
          <a:bodyPr>
            <a:normAutofit fontScale="90000"/>
          </a:bodyPr>
          <a:lstStyle/>
          <a:p>
            <a:r>
              <a:rPr lang="en-GB" sz="4800" dirty="0"/>
              <a:t>CAPM vs Fama–French Three-Factor Model</a:t>
            </a:r>
            <a:br>
              <a:rPr lang="en-GB" sz="4800" dirty="0"/>
            </a:br>
            <a:r>
              <a:rPr lang="en-GB" sz="4800" dirty="0"/>
              <a:t>An Empirical Analysis Using 25 Size–Value Portfolios</a:t>
            </a:r>
            <a:br>
              <a:rPr lang="en-GB" sz="4800" dirty="0"/>
            </a:br>
            <a:br>
              <a:rPr lang="en-GB" sz="4800" dirty="0"/>
            </a:br>
            <a:br>
              <a:rPr lang="en-GB" sz="4800" dirty="0"/>
            </a:br>
            <a:r>
              <a:rPr lang="en-US" sz="2700" dirty="0">
                <a:solidFill>
                  <a:schemeClr val="bg2">
                    <a:lumMod val="50000"/>
                  </a:schemeClr>
                </a:solidFill>
              </a:rPr>
              <a:t>A Data Analytics &amp; Quantitative Finance Project</a:t>
            </a:r>
            <a:endParaRPr lang="LID4096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863631-23EF-81F6-EDD2-8C493754C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64949"/>
            <a:ext cx="9144000" cy="1655762"/>
          </a:xfrm>
        </p:spPr>
        <p:txBody>
          <a:bodyPr>
            <a:normAutofit/>
          </a:bodyPr>
          <a:lstStyle/>
          <a:p>
            <a:r>
              <a:rPr lang="en-US" sz="2000" dirty="0"/>
              <a:t>Itay Feigin</a:t>
            </a:r>
            <a:br>
              <a:rPr lang="en-US" sz="2000" dirty="0"/>
            </a:br>
            <a:endParaRPr lang="en-US" sz="2000" dirty="0"/>
          </a:p>
          <a:p>
            <a:r>
              <a:rPr lang="en-US" sz="1800" dirty="0"/>
              <a:t>Tools: Python (pandas, statsmodels, matplotlib)</a:t>
            </a:r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27A26-5CC5-0D34-E481-49CFF8609BEB}"/>
              </a:ext>
            </a:extLst>
          </p:cNvPr>
          <p:cNvSpPr txBox="1"/>
          <p:nvPr/>
        </p:nvSpPr>
        <p:spPr>
          <a:xfrm>
            <a:off x="7563059" y="6520711"/>
            <a:ext cx="4850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/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Github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Repository: </a:t>
            </a:r>
            <a:r>
              <a:rPr lang="en-GB" sz="1200" dirty="0">
                <a:solidFill>
                  <a:srgbClr val="E7E6E6">
                    <a:lumMod val="50000"/>
                  </a:srgbClr>
                </a:solidFill>
                <a:hlinkClick r:id="rId3"/>
              </a:rPr>
              <a:t>https://github.com/ItayF213/factor-models-capm-ff3</a:t>
            </a:r>
            <a:endParaRPr kumimoji="0" lang="LID4096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744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29877-70E8-CE74-BE5E-AB8FA0141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Research Question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E6481-9781-5700-6379-2BC3752F7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Motivation &amp; Context</a:t>
            </a:r>
            <a:endParaRPr lang="en-GB" sz="2000" dirty="0"/>
          </a:p>
          <a:p>
            <a:r>
              <a:rPr lang="en-GB" sz="2000" dirty="0"/>
              <a:t>Asset pricing models aim to explain cross-sectional differences in portfolio returns</a:t>
            </a:r>
          </a:p>
          <a:p>
            <a:r>
              <a:rPr lang="en-GB" sz="2000" dirty="0"/>
              <a:t>CAPM assumes market risk alone explains expected returns</a:t>
            </a:r>
          </a:p>
          <a:p>
            <a:r>
              <a:rPr lang="en-GB" sz="2000" dirty="0"/>
              <a:t>Empirical evidence suggests additional systematic factors may matter</a:t>
            </a:r>
          </a:p>
          <a:p>
            <a:endParaRPr lang="en-GB" sz="2000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Research Question:</a:t>
            </a:r>
          </a:p>
          <a:p>
            <a:pPr marL="0" indent="0">
              <a:buNone/>
            </a:pPr>
            <a:r>
              <a:rPr lang="en-GB" sz="2000" dirty="0"/>
              <a:t>Does the Fama–French Three-Factor model provide better explanatory power than CAPM across diversified portfolios?</a:t>
            </a:r>
          </a:p>
          <a:p>
            <a:pPr marL="0" indent="0">
              <a:buNone/>
            </a:pPr>
            <a:endParaRPr lang="LID4096" sz="2000" dirty="0"/>
          </a:p>
        </p:txBody>
      </p:sp>
    </p:spTree>
    <p:extLst>
      <p:ext uri="{BB962C8B-B14F-4D97-AF65-F5344CB8AC3E}">
        <p14:creationId xmlns:p14="http://schemas.microsoft.com/office/powerpoint/2010/main" val="1854684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9DA4B-F22A-48CA-5110-A8F5712E0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&amp; Scope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84924-6EFB-34CA-C9AB-58BA51E3F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Monthly returns of 25 size–value sorted portfolios</a:t>
            </a:r>
          </a:p>
          <a:p>
            <a:r>
              <a:rPr lang="en-GB" sz="2400" dirty="0"/>
              <a:t>Portfolios constructed by independent size (ME) and book-to-market (BM) sorts</a:t>
            </a:r>
          </a:p>
          <a:p>
            <a:r>
              <a:rPr lang="en-US" sz="2400" dirty="0"/>
              <a:t>Factor data:</a:t>
            </a:r>
          </a:p>
          <a:p>
            <a:pPr lvl="1"/>
            <a:r>
              <a:rPr lang="en-GB" sz="2000" dirty="0"/>
              <a:t>Market excess return (MKT–RF)</a:t>
            </a:r>
            <a:endParaRPr lang="en-US" sz="2000" dirty="0"/>
          </a:p>
          <a:p>
            <a:pPr lvl="1"/>
            <a:r>
              <a:rPr lang="en-US" sz="2000" dirty="0"/>
              <a:t>Size factor (SMB)</a:t>
            </a:r>
          </a:p>
          <a:p>
            <a:pPr lvl="1"/>
            <a:r>
              <a:rPr lang="en-US" sz="2000" dirty="0"/>
              <a:t>Value factor (HML)</a:t>
            </a:r>
          </a:p>
          <a:p>
            <a:r>
              <a:rPr lang="en-GB" sz="2400" dirty="0"/>
              <a:t>Sample period consistent across all portfolios</a:t>
            </a:r>
            <a:endParaRPr lang="en-US" sz="2400" dirty="0"/>
          </a:p>
          <a:p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3782084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D4275-6982-64DD-92D0-2C465363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1E16F-1617-E5FF-C579-E836C0281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Estimated time-series regressions for each portfolio</a:t>
            </a:r>
          </a:p>
          <a:p>
            <a:r>
              <a:rPr lang="en-US" sz="2400" dirty="0"/>
              <a:t>Two competing models:</a:t>
            </a:r>
            <a:endParaRPr lang="en-GB" sz="2400" dirty="0"/>
          </a:p>
          <a:p>
            <a:pPr lvl="1"/>
            <a:r>
              <a:rPr lang="en-US" sz="2000" dirty="0"/>
              <a:t>CAPM</a:t>
            </a:r>
          </a:p>
          <a:p>
            <a:pPr lvl="1"/>
            <a:r>
              <a:rPr lang="en-US" sz="2000" dirty="0"/>
              <a:t>Fama–French Three-Factor (FF3)</a:t>
            </a:r>
          </a:p>
          <a:p>
            <a:r>
              <a:rPr lang="en-US" sz="2400" dirty="0"/>
              <a:t>Compared:</a:t>
            </a:r>
          </a:p>
          <a:p>
            <a:pPr lvl="1"/>
            <a:r>
              <a:rPr lang="en-US" sz="2000" dirty="0"/>
              <a:t>Model fit (R²)</a:t>
            </a:r>
          </a:p>
          <a:p>
            <a:pPr lvl="1"/>
            <a:r>
              <a:rPr lang="en-US" sz="2000" dirty="0"/>
              <a:t>Pricing errors (alpha)</a:t>
            </a:r>
          </a:p>
          <a:p>
            <a:pPr lvl="1"/>
            <a:r>
              <a:rPr lang="en-US" sz="2000" dirty="0"/>
              <a:t>Statistical significance of alphas</a:t>
            </a:r>
          </a:p>
        </p:txBody>
      </p:sp>
    </p:spTree>
    <p:extLst>
      <p:ext uri="{BB962C8B-B14F-4D97-AF65-F5344CB8AC3E}">
        <p14:creationId xmlns:p14="http://schemas.microsoft.com/office/powerpoint/2010/main" val="2615966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D43A3-C5EA-0E6C-14A6-6C474E4BE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Specifications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E2EFF-C766-9060-1DAD-A83D3A5FF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CAPM:</a:t>
            </a:r>
          </a:p>
          <a:p>
            <a:pPr marL="0" indent="0">
              <a:buNone/>
            </a:pPr>
            <a:r>
              <a:rPr lang="en-GB" sz="2000" dirty="0"/>
              <a:t>Excess Return = α + β(MKT−RF) + ε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Fama–French 3-Factor Model:</a:t>
            </a:r>
            <a:endParaRPr lang="en-US" sz="2000" dirty="0"/>
          </a:p>
          <a:p>
            <a:pPr marL="0" indent="0">
              <a:buNone/>
            </a:pPr>
            <a:r>
              <a:rPr lang="en-GB" sz="2000" dirty="0"/>
              <a:t>Excess Return = α + β(MKT−RF) + s(SMB) + h(HML) + ε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US" sz="2000" b="1" dirty="0"/>
              <a:t>Note:</a:t>
            </a:r>
            <a:endParaRPr lang="en-US" sz="2000" dirty="0"/>
          </a:p>
          <a:p>
            <a:pPr marL="0" indent="0">
              <a:buNone/>
            </a:pPr>
            <a:r>
              <a:rPr lang="en-GB" sz="2000" dirty="0"/>
              <a:t>Models estimated separately for each of the 25 portfolios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US" sz="2000" dirty="0"/>
          </a:p>
          <a:p>
            <a:pPr lvl="1"/>
            <a:endParaRPr lang="LID4096" sz="1800" dirty="0"/>
          </a:p>
        </p:txBody>
      </p:sp>
    </p:spTree>
    <p:extLst>
      <p:ext uri="{BB962C8B-B14F-4D97-AF65-F5344CB8AC3E}">
        <p14:creationId xmlns:p14="http://schemas.microsoft.com/office/powerpoint/2010/main" val="2525940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9D586-9D34-B92F-55F7-89DA6DC2F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Explanatory Power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783B8-9632-BC21-EBEE-D510B329A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/>
              <a:t>Definition</a:t>
            </a:r>
          </a:p>
          <a:p>
            <a:r>
              <a:rPr lang="en-GB" sz="2000" dirty="0"/>
              <a:t>R² measures how much variation in returns is explained by the model</a:t>
            </a:r>
          </a:p>
          <a:p>
            <a:r>
              <a:rPr lang="en-GB" sz="2000" dirty="0"/>
              <a:t>Higher R² indicates better fit</a:t>
            </a:r>
          </a:p>
          <a:p>
            <a:endParaRPr lang="en-GB" sz="2000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Key numbers:</a:t>
            </a:r>
          </a:p>
          <a:p>
            <a:r>
              <a:rPr lang="en-US" sz="2000" dirty="0"/>
              <a:t>Average R² (CAPM): ~0.74</a:t>
            </a:r>
          </a:p>
          <a:p>
            <a:r>
              <a:rPr lang="en-US" sz="2000" dirty="0"/>
              <a:t>Average R² (FF3): ~0.91</a:t>
            </a:r>
          </a:p>
          <a:p>
            <a:r>
              <a:rPr lang="en-US" sz="2000" dirty="0"/>
              <a:t>Average improvement (</a:t>
            </a:r>
            <a:r>
              <a:rPr lang="el-GR" sz="2000" dirty="0"/>
              <a:t>Δ</a:t>
            </a:r>
            <a:r>
              <a:rPr lang="en-US" sz="2000" dirty="0"/>
              <a:t>R²): ~0.18</a:t>
            </a:r>
            <a:endParaRPr lang="LID4096" sz="2000" dirty="0"/>
          </a:p>
        </p:txBody>
      </p:sp>
    </p:spTree>
    <p:extLst>
      <p:ext uri="{BB962C8B-B14F-4D97-AF65-F5344CB8AC3E}">
        <p14:creationId xmlns:p14="http://schemas.microsoft.com/office/powerpoint/2010/main" val="67508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030C8-FB83-4838-3FD5-4EFAC41CA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Increase in R²: FF3 vs CAPM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28DFC5-BF50-9B1A-2FA8-55994F6827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32477"/>
            <a:ext cx="2849545" cy="4351338"/>
          </a:xfrm>
        </p:spPr>
        <p:txBody>
          <a:bodyPr>
            <a:normAutofit/>
          </a:bodyPr>
          <a:lstStyle/>
          <a:p>
            <a:r>
              <a:rPr lang="en-GB" sz="2000" dirty="0"/>
              <a:t>FF3 improves explanatory power for every portfolio</a:t>
            </a:r>
          </a:p>
          <a:p>
            <a:r>
              <a:rPr lang="en-GB" sz="2000" dirty="0"/>
              <a:t>Largest gains observed in small and value-oriented portfolios</a:t>
            </a:r>
          </a:p>
          <a:p>
            <a:r>
              <a:rPr lang="en-GB" sz="2000" dirty="0"/>
              <a:t>Indicates systematic patterns CAPM fails to capture</a:t>
            </a:r>
            <a:endParaRPr lang="LID4096" sz="20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4C5C51F-6F5D-A009-4574-AACDB15AB81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745" y="1990202"/>
            <a:ext cx="8118246" cy="4022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7604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B3484-4313-26C0-E357-C39DE51BC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R² Comparison Across Models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FDD9E-1D7C-AEFF-DF8B-AAB52AFDD7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All points lie above the 45-degree line</a:t>
            </a:r>
          </a:p>
          <a:p>
            <a:r>
              <a:rPr lang="en-US" sz="2000" dirty="0"/>
              <a:t>FF3 consistently dominates CAPM</a:t>
            </a:r>
            <a:endParaRPr lang="en-GB" sz="2000" dirty="0"/>
          </a:p>
          <a:p>
            <a:r>
              <a:rPr lang="en-GB" sz="2000" dirty="0"/>
              <a:t>Improvement is not driven by outliers</a:t>
            </a:r>
            <a:endParaRPr lang="LID4096" sz="20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5FF8BD8-75A8-5280-5E36-8EC4DD5FD42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94030"/>
            <a:ext cx="5181600" cy="5190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3458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58BBC-288F-9BA6-501E-CE2627A91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Pricing Errors and Model Misspecification</a:t>
            </a:r>
            <a:endParaRPr lang="LID4096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F1B0A1-F964-5FF6-56D4-E0AF5814C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Interpretation</a:t>
            </a:r>
            <a:endParaRPr lang="en-GB" sz="2000" dirty="0"/>
          </a:p>
          <a:p>
            <a:r>
              <a:rPr lang="en-GB" sz="2000" dirty="0"/>
              <a:t>Alpha measures unexplained excess return</a:t>
            </a:r>
          </a:p>
          <a:p>
            <a:r>
              <a:rPr lang="en-GB" sz="2000" dirty="0"/>
              <a:t>Statistically significant alpha suggests model misspecification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Results:</a:t>
            </a:r>
          </a:p>
          <a:p>
            <a:r>
              <a:rPr lang="en-GB" sz="2000" dirty="0"/>
              <a:t>CAPM: 11 significant alphas (out of 25)</a:t>
            </a:r>
            <a:endParaRPr lang="en-US" sz="2000" dirty="0"/>
          </a:p>
          <a:p>
            <a:r>
              <a:rPr lang="en-GB" sz="2000" dirty="0"/>
              <a:t>FF3: 6 significant alphas (out of 25)</a:t>
            </a:r>
            <a:endParaRPr lang="LID4096" sz="2000" dirty="0"/>
          </a:p>
        </p:txBody>
      </p:sp>
    </p:spTree>
    <p:extLst>
      <p:ext uri="{BB962C8B-B14F-4D97-AF65-F5344CB8AC3E}">
        <p14:creationId xmlns:p14="http://schemas.microsoft.com/office/powerpoint/2010/main" val="2113847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CF15B-7BF8-B833-0F9E-D7520615F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Significant Alphas by Model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2DC80-CDC3-C911-8403-0244CC0982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02268" cy="4351338"/>
          </a:xfrm>
        </p:spPr>
        <p:txBody>
          <a:bodyPr>
            <a:normAutofit/>
          </a:bodyPr>
          <a:lstStyle/>
          <a:p>
            <a:r>
              <a:rPr lang="en-GB" sz="2000" dirty="0"/>
              <a:t>FF3 reduces pricing errors substantially</a:t>
            </a:r>
          </a:p>
          <a:p>
            <a:r>
              <a:rPr lang="en-GB" sz="2000" dirty="0"/>
              <a:t>Supports the inclusion of size and value factors</a:t>
            </a:r>
            <a:endParaRPr lang="LID4096" sz="200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433DB6F-2D42-3A94-2CA2-6D6050FCED9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468" y="1690688"/>
            <a:ext cx="4802187" cy="480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9320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526AE-7C7B-12FF-29E0-172F90590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Interpretation</a:t>
            </a:r>
            <a:endParaRPr lang="LID4096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8D6AA2-8048-ABBC-13A4-9D02EEDFD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Size and value factors capture systematic risk ignored by CAPM</a:t>
            </a:r>
          </a:p>
          <a:p>
            <a:r>
              <a:rPr lang="en-US" sz="2400" dirty="0"/>
              <a:t>FF3 delivers:</a:t>
            </a:r>
            <a:endParaRPr lang="en-GB" sz="2400" dirty="0"/>
          </a:p>
          <a:p>
            <a:pPr lvl="1"/>
            <a:r>
              <a:rPr lang="en-US" sz="2000" dirty="0"/>
              <a:t>Higher explanatory power</a:t>
            </a:r>
          </a:p>
          <a:p>
            <a:pPr lvl="1"/>
            <a:r>
              <a:rPr lang="en-US" sz="2000" dirty="0"/>
              <a:t>Lower pricing errors</a:t>
            </a:r>
          </a:p>
          <a:p>
            <a:r>
              <a:rPr lang="en-GB" sz="2400" dirty="0"/>
              <a:t>Results align with established empirical asset pricing literature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32700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EDA1A-1224-A4A5-7E5A-EEB2EE180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44190-2005-24DF-0793-686CB228A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FF3 significantly outperforms CAPM across diversified portfolios</a:t>
            </a:r>
          </a:p>
          <a:p>
            <a:r>
              <a:rPr lang="en-GB" sz="2000" dirty="0"/>
              <a:t>Improvements are economically meaningful and statistically robust</a:t>
            </a:r>
          </a:p>
          <a:p>
            <a:r>
              <a:rPr lang="en-GB" sz="2000" dirty="0"/>
              <a:t>Demonstrates how factor models enhance return explanation beyond market risk alone</a:t>
            </a:r>
            <a:endParaRPr lang="LID4096" sz="20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71FDB-411D-61DA-AB16-B135735FD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Fully reproducible Python-based analysis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462174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462</Words>
  <Application>Microsoft Office PowerPoint</Application>
  <PresentationFormat>Widescreen</PresentationFormat>
  <Paragraphs>85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Office 2013 - 2022 Theme</vt:lpstr>
      <vt:lpstr>CAPM vs Fama–French Three-Factor Model An Empirical Analysis Using 25 Size–Value Portfolios   A Data Analytics &amp; Quantitative Finance Project</vt:lpstr>
      <vt:lpstr>Motivation &amp; Research Question</vt:lpstr>
      <vt:lpstr>Data &amp; Scope</vt:lpstr>
      <vt:lpstr>Methodology</vt:lpstr>
      <vt:lpstr>Model Specifications</vt:lpstr>
      <vt:lpstr>Model Explanatory Power</vt:lpstr>
      <vt:lpstr>Increase in R²: FF3 vs CAPM</vt:lpstr>
      <vt:lpstr>R² Comparison Across Models</vt:lpstr>
      <vt:lpstr>Pricing Errors and Model Misspecification</vt:lpstr>
      <vt:lpstr>Significant Alphas by Model</vt:lpstr>
      <vt:lpstr>Interpretation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Itay Feigin</dc:creator>
  <cp:lastModifiedBy>Itay Feigin</cp:lastModifiedBy>
  <cp:revision>1</cp:revision>
  <dcterms:created xsi:type="dcterms:W3CDTF">2025-12-30T18:09:39Z</dcterms:created>
  <dcterms:modified xsi:type="dcterms:W3CDTF">2025-12-30T18:36:43Z</dcterms:modified>
</cp:coreProperties>
</file>