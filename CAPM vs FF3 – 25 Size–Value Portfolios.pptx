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5"/>
  </p:notesMasterIdLst>
  <p:sldIdLst>
    <p:sldId id="270" r:id="rId2"/>
    <p:sldId id="271" r:id="rId3"/>
    <p:sldId id="272" r:id="rId4"/>
    <p:sldId id="273" r:id="rId5"/>
    <p:sldId id="274" r:id="rId6"/>
    <p:sldId id="282" r:id="rId7"/>
    <p:sldId id="275" r:id="rId8"/>
    <p:sldId id="276" r:id="rId9"/>
    <p:sldId id="277" r:id="rId10"/>
    <p:sldId id="278" r:id="rId11"/>
    <p:sldId id="279" r:id="rId12"/>
    <p:sldId id="280" r:id="rId13"/>
    <p:sldId id="281" r:id="rId14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83B2777-9DBC-4F5F-B51E-5AAD96AB5CE8}" v="29" dt="2026-01-02T18:33:51.64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6" d="100"/>
          <a:sy n="76" d="100"/>
        </p:scale>
        <p:origin x="869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tay Feigin" userId="d9bde96dfa5f0a34" providerId="LiveId" clId="{33C5E181-5C80-4656-B799-E170728B0D20}"/>
    <pc:docChg chg="undo custSel addSld modSld">
      <pc:chgData name="Itay Feigin" userId="d9bde96dfa5f0a34" providerId="LiveId" clId="{33C5E181-5C80-4656-B799-E170728B0D20}" dt="2026-01-02T18:34:40.686" v="200" actId="1076"/>
      <pc:docMkLst>
        <pc:docMk/>
      </pc:docMkLst>
      <pc:sldChg chg="addSp delSp modSp new mod modClrScheme chgLayout">
        <pc:chgData name="Itay Feigin" userId="d9bde96dfa5f0a34" providerId="LiveId" clId="{33C5E181-5C80-4656-B799-E170728B0D20}" dt="2026-01-02T18:34:40.686" v="200" actId="1076"/>
        <pc:sldMkLst>
          <pc:docMk/>
          <pc:sldMk cId="2722346159" sldId="282"/>
        </pc:sldMkLst>
        <pc:spChg chg="mod ord">
          <ac:chgData name="Itay Feigin" userId="d9bde96dfa5f0a34" providerId="LiveId" clId="{33C5E181-5C80-4656-B799-E170728B0D20}" dt="2026-01-02T18:34:25.441" v="198" actId="403"/>
          <ac:spMkLst>
            <pc:docMk/>
            <pc:sldMk cId="2722346159" sldId="282"/>
            <ac:spMk id="2" creationId="{8F9DFF82-894A-02F1-EE36-AA4CA989DD14}"/>
          </ac:spMkLst>
        </pc:spChg>
        <pc:spChg chg="del mod ord">
          <ac:chgData name="Itay Feigin" userId="d9bde96dfa5f0a34" providerId="LiveId" clId="{33C5E181-5C80-4656-B799-E170728B0D20}" dt="2026-01-02T18:21:09.799" v="9" actId="700"/>
          <ac:spMkLst>
            <pc:docMk/>
            <pc:sldMk cId="2722346159" sldId="282"/>
            <ac:spMk id="3" creationId="{596DFE89-705E-4D58-8D56-2CB731529748}"/>
          </ac:spMkLst>
        </pc:spChg>
        <pc:spChg chg="add mod ord">
          <ac:chgData name="Itay Feigin" userId="d9bde96dfa5f0a34" providerId="LiveId" clId="{33C5E181-5C80-4656-B799-E170728B0D20}" dt="2026-01-02T18:34:33.172" v="199" actId="1076"/>
          <ac:spMkLst>
            <pc:docMk/>
            <pc:sldMk cId="2722346159" sldId="282"/>
            <ac:spMk id="6" creationId="{4F542B4E-83E0-D50A-22D9-6DC164C677EA}"/>
          </ac:spMkLst>
        </pc:spChg>
        <pc:spChg chg="add del mod ord">
          <ac:chgData name="Itay Feigin" userId="d9bde96dfa5f0a34" providerId="LiveId" clId="{33C5E181-5C80-4656-B799-E170728B0D20}" dt="2026-01-02T18:34:40.686" v="200" actId="1076"/>
          <ac:spMkLst>
            <pc:docMk/>
            <pc:sldMk cId="2722346159" sldId="282"/>
            <ac:spMk id="7" creationId="{4C6C7B6F-6959-170D-D173-D17070F2C750}"/>
          </ac:spMkLst>
        </pc:spChg>
        <pc:spChg chg="add mod">
          <ac:chgData name="Itay Feigin" userId="d9bde96dfa5f0a34" providerId="LiveId" clId="{33C5E181-5C80-4656-B799-E170728B0D20}" dt="2026-01-02T18:28:13.670" v="146"/>
          <ac:spMkLst>
            <pc:docMk/>
            <pc:sldMk cId="2722346159" sldId="282"/>
            <ac:spMk id="8" creationId="{9DC80EF3-9948-E872-E22C-32927A7E6ADC}"/>
          </ac:spMkLst>
        </pc:spChg>
        <pc:spChg chg="add">
          <ac:chgData name="Itay Feigin" userId="d9bde96dfa5f0a34" providerId="LiveId" clId="{33C5E181-5C80-4656-B799-E170728B0D20}" dt="2026-01-02T18:28:19.731" v="150"/>
          <ac:spMkLst>
            <pc:docMk/>
            <pc:sldMk cId="2722346159" sldId="282"/>
            <ac:spMk id="9" creationId="{F2418754-C43E-4EC1-970C-1D148C5DAEDB}"/>
          </ac:spMkLst>
        </pc:spChg>
        <pc:spChg chg="add">
          <ac:chgData name="Itay Feigin" userId="d9bde96dfa5f0a34" providerId="LiveId" clId="{33C5E181-5C80-4656-B799-E170728B0D20}" dt="2026-01-02T18:33:46.695" v="186"/>
          <ac:spMkLst>
            <pc:docMk/>
            <pc:sldMk cId="2722346159" sldId="282"/>
            <ac:spMk id="12" creationId="{ACEB4642-0817-86EF-1136-3322A9A33D08}"/>
          </ac:spMkLst>
        </pc:spChg>
        <pc:picChg chg="add del mod">
          <ac:chgData name="Itay Feigin" userId="d9bde96dfa5f0a34" providerId="LiveId" clId="{33C5E181-5C80-4656-B799-E170728B0D20}" dt="2026-01-02T18:20:22.745" v="4" actId="478"/>
          <ac:picMkLst>
            <pc:docMk/>
            <pc:sldMk cId="2722346159" sldId="282"/>
            <ac:picMk id="5" creationId="{FD893376-02DE-0781-466E-4A826270A21B}"/>
          </ac:picMkLst>
        </pc:picChg>
        <pc:picChg chg="add del mod">
          <ac:chgData name="Itay Feigin" userId="d9bde96dfa5f0a34" providerId="LiveId" clId="{33C5E181-5C80-4656-B799-E170728B0D20}" dt="2026-01-02T18:33:44.790" v="185" actId="22"/>
          <ac:picMkLst>
            <pc:docMk/>
            <pc:sldMk cId="2722346159" sldId="282"/>
            <ac:picMk id="11" creationId="{702E7EFA-8DCD-5119-0A00-647DD2D8BA16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E54A409-ABFA-454E-AA46-6BF8E81C1AC8}" type="datetimeFigureOut">
              <a:rPr lang="LID4096" smtClean="0"/>
              <a:t>01/02/2026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CAC771-0E68-4B16-84FD-9D4290DF226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5603499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32282E-4D27-D06F-9B39-5EF8FD700D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FAAB848-CC5E-8674-F5FF-08A6C2F440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6548ED-1214-06D0-5F0D-1F93541E97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032016-E052-B397-B0DD-7913C7EDED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657EA63-F465-47F2-9584-A01E0362A166}" type="slidenum">
              <a:rPr kumimoji="0" lang="LID4096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LID4096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821627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1206DD-B145-4E0F-9261-E6675C88924B}" type="datetime1">
              <a:rPr lang="LID4096" smtClean="0"/>
              <a:t>01/02/2026</a:t>
            </a:fld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Fully reproducible Python-based analysis</a:t>
            </a:r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3BA948-FDDB-4DEE-AA55-5CA1DE0DF80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6866388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0A60D9-3039-406E-99E7-9C7E5E69431E}" type="datetime1">
              <a:rPr lang="LID4096" smtClean="0"/>
              <a:t>01/02/2026</a:t>
            </a:fld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Fully reproducible Python-based analysis</a:t>
            </a:r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3BA948-FDDB-4DEE-AA55-5CA1DE0DF80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1284965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D2E2EB-8559-44B5-9BC8-700D9B2BBEE4}" type="datetime1">
              <a:rPr lang="LID4096" smtClean="0"/>
              <a:t>01/02/2026</a:t>
            </a:fld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Fully reproducible Python-based analysis</a:t>
            </a:r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3BA948-FDDB-4DEE-AA55-5CA1DE0DF80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8023991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923370-F260-4823-A286-625936D15A23}" type="datetime1">
              <a:rPr lang="LID4096" smtClean="0"/>
              <a:t>01/02/2026</a:t>
            </a:fld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Fully reproducible Python-based analysis</a:t>
            </a:r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3BA948-FDDB-4DEE-AA55-5CA1DE0DF80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4141687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08CFFC-4F83-4534-96A9-C2F14101DE9D}" type="datetime1">
              <a:rPr lang="LID4096" smtClean="0"/>
              <a:t>01/02/2026</a:t>
            </a:fld>
            <a:endParaRPr lang="LID4096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Fully reproducible Python-based analysis</a:t>
            </a:r>
            <a:endParaRPr lang="LID4096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3BA948-FDDB-4DEE-AA55-5CA1DE0DF80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3457444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9C035-F8B9-4EDD-AB1A-125257E4998D}" type="datetime1">
              <a:rPr lang="LID4096" smtClean="0"/>
              <a:t>01/02/2026</a:t>
            </a:fld>
            <a:endParaRPr lang="LID4096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Fully reproducible Python-based analysis</a:t>
            </a:r>
            <a:endParaRPr lang="LID4096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3BA948-FDDB-4DEE-AA55-5CA1DE0DF80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770969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6AFA7F-49AC-4AE0-A3DD-1D9D46337E1B}" type="datetime1">
              <a:rPr lang="LID4096" smtClean="0"/>
              <a:t>01/02/2026</a:t>
            </a:fld>
            <a:endParaRPr lang="LID4096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Fully reproducible Python-based analysis</a:t>
            </a:r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3BA948-FDDB-4DEE-AA55-5CA1DE0DF80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441780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FBE9C-259A-4DCF-914B-F506DFF53DDB}" type="datetime1">
              <a:rPr lang="LID4096" smtClean="0"/>
              <a:t>01/02/2026</a:t>
            </a:fld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Fully reproducible Python-based analysis</a:t>
            </a:r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3BA948-FDDB-4DEE-AA55-5CA1DE0DF80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4493052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3253D1-C349-4D8C-9F78-B74F0CADA040}" type="datetime1">
              <a:rPr lang="LID4096" smtClean="0"/>
              <a:t>01/02/2026</a:t>
            </a:fld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Fully reproducible Python-based analysis</a:t>
            </a:r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3BA948-FDDB-4DEE-AA55-5CA1DE0DF80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087420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BCA3D2-CB58-4760-BB8D-5745BCD76ABB}" type="datetime1">
              <a:rPr lang="LID4096" smtClean="0"/>
              <a:t>01/02/2026</a:t>
            </a:fld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Fully reproducible Python-based analysis</a:t>
            </a:r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3BA948-FDDB-4DEE-AA55-5CA1DE0DF80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7210713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66F95D-E75F-4B75-BCED-1E8397E47752}" type="datetime1">
              <a:rPr lang="LID4096" smtClean="0"/>
              <a:t>01/02/2026</a:t>
            </a:fld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Fully reproducible Python-based analysis</a:t>
            </a:r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3BA948-FDDB-4DEE-AA55-5CA1DE0DF80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508629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EFD0C60-6BB3-44C6-9186-1CE65B3199FD}" type="datetime1">
              <a:rPr lang="LID4096" smtClean="0"/>
              <a:t>01/02/2026</a:t>
            </a:fld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Fully reproducible Python-based analysis</a:t>
            </a:r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3BA948-FDDB-4DEE-AA55-5CA1DE0DF80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539217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ItayF213/factor-models-capm-ff3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435C05-725A-3ABB-16F8-D81CC8EE5B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F61D47-3919-ECF3-792E-3AE8DF4F64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8198" y="1041400"/>
            <a:ext cx="11555604" cy="2387600"/>
          </a:xfrm>
        </p:spPr>
        <p:txBody>
          <a:bodyPr>
            <a:normAutofit fontScale="90000"/>
          </a:bodyPr>
          <a:lstStyle/>
          <a:p>
            <a:r>
              <a:rPr lang="en-GB" sz="4800" dirty="0"/>
              <a:t>CAPM vs Fama–French Three-Factor Model</a:t>
            </a:r>
            <a:br>
              <a:rPr lang="en-GB" sz="4800" dirty="0"/>
            </a:br>
            <a:r>
              <a:rPr lang="en-GB" sz="4800" dirty="0"/>
              <a:t>An Empirical Analysis Using 25 Size–Value Portfolios</a:t>
            </a:r>
            <a:br>
              <a:rPr lang="en-GB" sz="4800" dirty="0"/>
            </a:br>
            <a:br>
              <a:rPr lang="en-GB" sz="4800" dirty="0"/>
            </a:br>
            <a:br>
              <a:rPr lang="en-GB" sz="4800" dirty="0"/>
            </a:br>
            <a:r>
              <a:rPr lang="en-US" sz="2700" dirty="0">
                <a:solidFill>
                  <a:schemeClr val="bg2">
                    <a:lumMod val="50000"/>
                  </a:schemeClr>
                </a:solidFill>
              </a:rPr>
              <a:t>A Data Analytics &amp; Quantitative Finance Project</a:t>
            </a:r>
            <a:endParaRPr lang="LID4096" sz="48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F863631-23EF-81F6-EDD2-8C493754CC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864949"/>
            <a:ext cx="9144000" cy="1655762"/>
          </a:xfrm>
        </p:spPr>
        <p:txBody>
          <a:bodyPr>
            <a:normAutofit/>
          </a:bodyPr>
          <a:lstStyle/>
          <a:p>
            <a:r>
              <a:rPr lang="en-US" sz="2000" dirty="0"/>
              <a:t>Itay Feigin</a:t>
            </a:r>
            <a:br>
              <a:rPr lang="en-US" sz="2000" dirty="0"/>
            </a:br>
            <a:endParaRPr lang="en-US" sz="2000" dirty="0"/>
          </a:p>
          <a:p>
            <a:r>
              <a:rPr lang="en-US" sz="1800" dirty="0"/>
              <a:t>Tools: Python (pandas, statsmodels, matplotlib)</a:t>
            </a:r>
            <a:endParaRPr lang="LID4096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5C27A26-5CC5-0D34-E481-49CFF8609BEB}"/>
              </a:ext>
            </a:extLst>
          </p:cNvPr>
          <p:cNvSpPr txBox="1"/>
          <p:nvPr/>
        </p:nvSpPr>
        <p:spPr>
          <a:xfrm>
            <a:off x="7563059" y="6520711"/>
            <a:ext cx="48500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defTabSz="457200"/>
            <a:r>
              <a:rPr kumimoji="0" lang="en-GB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E7E6E6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Github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Repository: </a:t>
            </a:r>
            <a:r>
              <a:rPr lang="en-GB" sz="1200" dirty="0">
                <a:solidFill>
                  <a:srgbClr val="E7E6E6">
                    <a:lumMod val="50000"/>
                  </a:srgbClr>
                </a:solidFill>
                <a:hlinkClick r:id="rId3"/>
              </a:rPr>
              <a:t>https://github.com/ItayF213/factor-models-capm-ff3</a:t>
            </a:r>
            <a:endParaRPr kumimoji="0" lang="LID4096" sz="1200" b="0" i="0" u="none" strike="noStrike" kern="1200" cap="none" spc="0" normalizeH="0" baseline="0" noProof="0" dirty="0">
              <a:ln>
                <a:noFill/>
              </a:ln>
              <a:solidFill>
                <a:srgbClr val="E7E6E6">
                  <a:lumMod val="50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527444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529877-70E8-CE74-BE5E-AB8FA0141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 &amp; Research Question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EE6481-9781-5700-6379-2BC3752F70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b="1" dirty="0"/>
              <a:t>Motivation &amp; Context</a:t>
            </a:r>
            <a:endParaRPr lang="en-GB" sz="2000" dirty="0"/>
          </a:p>
          <a:p>
            <a:r>
              <a:rPr lang="en-GB" sz="2000" dirty="0"/>
              <a:t>Asset pricing models aim to explain cross-sectional differences in portfolio returns</a:t>
            </a:r>
          </a:p>
          <a:p>
            <a:r>
              <a:rPr lang="en-GB" sz="2000" dirty="0"/>
              <a:t>CAPM assumes market risk alone explains expected returns</a:t>
            </a:r>
          </a:p>
          <a:p>
            <a:r>
              <a:rPr lang="en-GB" sz="2000" dirty="0"/>
              <a:t>Empirical evidence suggests additional systematic factors may matter</a:t>
            </a:r>
          </a:p>
          <a:p>
            <a:endParaRPr lang="en-GB" sz="2000" dirty="0"/>
          </a:p>
          <a:p>
            <a:pPr marL="0" indent="0">
              <a:buNone/>
            </a:pPr>
            <a:endParaRPr lang="en-US" sz="2000" b="1" dirty="0"/>
          </a:p>
          <a:p>
            <a:pPr marL="0" indent="0">
              <a:buNone/>
            </a:pPr>
            <a:endParaRPr lang="en-US" sz="2000" b="1" dirty="0"/>
          </a:p>
          <a:p>
            <a:pPr marL="0" indent="0">
              <a:buNone/>
            </a:pPr>
            <a:r>
              <a:rPr lang="en-US" sz="2000" b="1" dirty="0"/>
              <a:t>Research Question:</a:t>
            </a:r>
          </a:p>
          <a:p>
            <a:pPr marL="0" indent="0">
              <a:buNone/>
            </a:pPr>
            <a:r>
              <a:rPr lang="en-GB" sz="2000" dirty="0"/>
              <a:t>Does the Fama–French Three-Factor model provide better explanatory power than CAPM across diversified portfolios?</a:t>
            </a:r>
          </a:p>
          <a:p>
            <a:pPr marL="0" indent="0">
              <a:buNone/>
            </a:pPr>
            <a:endParaRPr lang="LID4096" sz="2000" dirty="0"/>
          </a:p>
        </p:txBody>
      </p:sp>
    </p:spTree>
    <p:extLst>
      <p:ext uri="{BB962C8B-B14F-4D97-AF65-F5344CB8AC3E}">
        <p14:creationId xmlns:p14="http://schemas.microsoft.com/office/powerpoint/2010/main" val="18546848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A9DA4B-F22A-48CA-5110-A8F5712E02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&amp; Scope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E84924-6EFB-34CA-C9AB-58BA51E3FC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2400" dirty="0"/>
              <a:t>Monthly returns of 25 size–value sorted portfolios</a:t>
            </a:r>
          </a:p>
          <a:p>
            <a:r>
              <a:rPr lang="en-GB" sz="2400" dirty="0"/>
              <a:t>Portfolios constructed by independent size (ME) and book-to-market (BM) sorts</a:t>
            </a:r>
          </a:p>
          <a:p>
            <a:r>
              <a:rPr lang="en-US" sz="2400" dirty="0"/>
              <a:t>Factor data:</a:t>
            </a:r>
          </a:p>
          <a:p>
            <a:pPr lvl="1"/>
            <a:r>
              <a:rPr lang="en-GB" sz="2000" dirty="0"/>
              <a:t>Market excess return (MKT–RF)</a:t>
            </a:r>
            <a:endParaRPr lang="en-US" sz="2000" dirty="0"/>
          </a:p>
          <a:p>
            <a:pPr lvl="1"/>
            <a:r>
              <a:rPr lang="en-US" sz="2000" dirty="0"/>
              <a:t>Size factor (SMB)</a:t>
            </a:r>
          </a:p>
          <a:p>
            <a:pPr lvl="1"/>
            <a:r>
              <a:rPr lang="en-US" sz="2000" dirty="0"/>
              <a:t>Value factor (HML)</a:t>
            </a:r>
          </a:p>
          <a:p>
            <a:r>
              <a:rPr lang="en-GB" sz="2400" dirty="0"/>
              <a:t>Sample period consistent across all portfolios</a:t>
            </a:r>
            <a:endParaRPr lang="en-US" sz="2400" dirty="0"/>
          </a:p>
          <a:p>
            <a:endParaRPr lang="LID4096" sz="2400" dirty="0"/>
          </a:p>
        </p:txBody>
      </p:sp>
    </p:spTree>
    <p:extLst>
      <p:ext uri="{BB962C8B-B14F-4D97-AF65-F5344CB8AC3E}">
        <p14:creationId xmlns:p14="http://schemas.microsoft.com/office/powerpoint/2010/main" val="37820847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6D4275-6982-64DD-92D0-2C465363C6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Methodology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E1E16F-1617-E5FF-C579-E836C0281A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2400" dirty="0"/>
              <a:t>Estimated time-series regressions for each portfolio</a:t>
            </a:r>
          </a:p>
          <a:p>
            <a:r>
              <a:rPr lang="en-US" sz="2400" dirty="0"/>
              <a:t>Two competing models:</a:t>
            </a:r>
            <a:endParaRPr lang="en-GB" sz="2400" dirty="0"/>
          </a:p>
          <a:p>
            <a:pPr lvl="1"/>
            <a:r>
              <a:rPr lang="en-US" sz="2000" dirty="0"/>
              <a:t>CAPM</a:t>
            </a:r>
          </a:p>
          <a:p>
            <a:pPr lvl="1"/>
            <a:r>
              <a:rPr lang="en-US" sz="2000" dirty="0"/>
              <a:t>Fama–French Three-Factor (FF3)</a:t>
            </a:r>
          </a:p>
          <a:p>
            <a:r>
              <a:rPr lang="en-US" sz="2400" dirty="0"/>
              <a:t>Compared:</a:t>
            </a:r>
          </a:p>
          <a:p>
            <a:pPr lvl="1"/>
            <a:r>
              <a:rPr lang="en-US" sz="2000" dirty="0"/>
              <a:t>Model fit (R²)</a:t>
            </a:r>
          </a:p>
          <a:p>
            <a:pPr lvl="1"/>
            <a:r>
              <a:rPr lang="en-US" sz="2000" dirty="0"/>
              <a:t>Pricing errors (alpha)</a:t>
            </a:r>
          </a:p>
          <a:p>
            <a:pPr lvl="1"/>
            <a:r>
              <a:rPr lang="en-US" sz="2000" dirty="0"/>
              <a:t>Statistical significance of alphas</a:t>
            </a:r>
          </a:p>
        </p:txBody>
      </p:sp>
    </p:spTree>
    <p:extLst>
      <p:ext uri="{BB962C8B-B14F-4D97-AF65-F5344CB8AC3E}">
        <p14:creationId xmlns:p14="http://schemas.microsoft.com/office/powerpoint/2010/main" val="26159665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7D43A3-C5EA-0E6C-14A6-6C474E4BE5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Specifications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6E2EFF-C766-9060-1DAD-A83D3A5FF1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b="1" dirty="0"/>
              <a:t>CAPM:</a:t>
            </a:r>
          </a:p>
          <a:p>
            <a:pPr marL="0" indent="0">
              <a:buNone/>
            </a:pPr>
            <a:r>
              <a:rPr lang="en-GB" sz="2000" dirty="0"/>
              <a:t>Excess Return = α + β(MKT−RF) + ε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b="1" dirty="0"/>
              <a:t>Fama–French 3-Factor Model:</a:t>
            </a:r>
            <a:endParaRPr lang="en-US" sz="2000" dirty="0"/>
          </a:p>
          <a:p>
            <a:pPr marL="0" indent="0">
              <a:buNone/>
            </a:pPr>
            <a:r>
              <a:rPr lang="en-GB" sz="2000" dirty="0"/>
              <a:t>Excess Return = α + β(MKT−RF) + s(SMB) + h(HML) + ε</a:t>
            </a:r>
          </a:p>
          <a:p>
            <a:pPr marL="0" indent="0">
              <a:buNone/>
            </a:pPr>
            <a:endParaRPr lang="en-GB" sz="2000" dirty="0"/>
          </a:p>
          <a:p>
            <a:pPr marL="0" indent="0">
              <a:buNone/>
            </a:pPr>
            <a:r>
              <a:rPr lang="en-US" sz="2000" b="1" dirty="0"/>
              <a:t>Note:</a:t>
            </a:r>
            <a:endParaRPr lang="en-US" sz="2000" dirty="0"/>
          </a:p>
          <a:p>
            <a:pPr marL="0" indent="0">
              <a:buNone/>
            </a:pPr>
            <a:r>
              <a:rPr lang="en-GB" sz="2000" dirty="0"/>
              <a:t>Models estimated separately for each of the 25 portfolios</a:t>
            </a:r>
          </a:p>
          <a:p>
            <a:pPr marL="0" indent="0">
              <a:buNone/>
            </a:pPr>
            <a:endParaRPr lang="en-GB" sz="2000" dirty="0"/>
          </a:p>
          <a:p>
            <a:pPr marL="0" indent="0">
              <a:buNone/>
            </a:pPr>
            <a:endParaRPr lang="en-US" sz="2000" dirty="0"/>
          </a:p>
          <a:p>
            <a:pPr lvl="1"/>
            <a:endParaRPr lang="LID4096" sz="1800" dirty="0"/>
          </a:p>
        </p:txBody>
      </p:sp>
    </p:spTree>
    <p:extLst>
      <p:ext uri="{BB962C8B-B14F-4D97-AF65-F5344CB8AC3E}">
        <p14:creationId xmlns:p14="http://schemas.microsoft.com/office/powerpoint/2010/main" val="25259408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9DFF82-894A-02F1-EE36-AA4CA989DD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Implementation Snapshot (Python)</a:t>
            </a:r>
            <a:br>
              <a:rPr lang="en-US" dirty="0"/>
            </a:br>
            <a:r>
              <a:rPr lang="en-GB" sz="2400" dirty="0">
                <a:solidFill>
                  <a:schemeClr val="bg2">
                    <a:lumMod val="50000"/>
                  </a:schemeClr>
                </a:solidFill>
              </a:rPr>
              <a:t>OLS estimation of CAPM and FF3 across size–value portfolios</a:t>
            </a:r>
            <a:endParaRPr lang="LID4096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F542B4E-83E0-D50A-22D9-6DC164C677E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693253"/>
            <a:ext cx="4688393" cy="538406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dirty="0">
                <a:latin typeface="Consolas" panose="020B0609020204030204" pitchFamily="49" charset="0"/>
              </a:rPr>
              <a:t>results = []</a:t>
            </a:r>
          </a:p>
          <a:p>
            <a:pPr marL="0" indent="0">
              <a:buNone/>
            </a:pPr>
            <a:endParaRPr lang="en-US" sz="15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500" dirty="0">
                <a:latin typeface="Consolas" panose="020B0609020204030204" pitchFamily="49" charset="0"/>
              </a:rPr>
              <a:t>for portfolio in excess_returns.columns:</a:t>
            </a:r>
          </a:p>
          <a:p>
            <a:pPr marL="0" indent="0">
              <a:buNone/>
            </a:pPr>
            <a:r>
              <a:rPr lang="en-US" sz="1500" dirty="0">
                <a:latin typeface="Consolas" panose="020B0609020204030204" pitchFamily="49" charset="0"/>
              </a:rPr>
              <a:t>    y = excess_returns[portfolio]</a:t>
            </a:r>
          </a:p>
          <a:p>
            <a:pPr marL="0" indent="0">
              <a:buNone/>
            </a:pPr>
            <a:endParaRPr lang="en-US" sz="15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500" dirty="0">
                <a:latin typeface="Consolas" panose="020B0609020204030204" pitchFamily="49" charset="0"/>
              </a:rPr>
              <a:t>    capm = sm.OLS(y, X_capm).fit()</a:t>
            </a:r>
          </a:p>
          <a:p>
            <a:pPr marL="0" indent="0">
              <a:buNone/>
            </a:pPr>
            <a:r>
              <a:rPr lang="en-US" sz="1500" dirty="0">
                <a:latin typeface="Consolas" panose="020B0609020204030204" pitchFamily="49" charset="0"/>
              </a:rPr>
              <a:t>    ff3  = sm.OLS(y, X_ff3).fit()</a:t>
            </a:r>
          </a:p>
          <a:p>
            <a:pPr marL="0" indent="0">
              <a:buNone/>
            </a:pPr>
            <a:endParaRPr lang="en-US" sz="15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500" dirty="0">
                <a:latin typeface="Consolas" panose="020B0609020204030204" pitchFamily="49" charset="0"/>
              </a:rPr>
              <a:t>    results.append({</a:t>
            </a:r>
          </a:p>
          <a:p>
            <a:pPr marL="0" indent="0">
              <a:buNone/>
            </a:pPr>
            <a:r>
              <a:rPr lang="en-US" sz="1500" dirty="0">
                <a:latin typeface="Consolas" panose="020B0609020204030204" pitchFamily="49" charset="0"/>
              </a:rPr>
              <a:t>        "portfolio": portfolio,</a:t>
            </a:r>
          </a:p>
          <a:p>
            <a:pPr marL="0" indent="0">
              <a:buNone/>
            </a:pPr>
            <a:r>
              <a:rPr lang="en-US" sz="1500" dirty="0">
                <a:latin typeface="Consolas" panose="020B0609020204030204" pitchFamily="49" charset="0"/>
              </a:rPr>
              <a:t>        "r2_capm": capm.rsquared,</a:t>
            </a:r>
          </a:p>
          <a:p>
            <a:pPr marL="0" indent="0">
              <a:buNone/>
            </a:pPr>
            <a:r>
              <a:rPr lang="en-US" sz="1500" dirty="0">
                <a:latin typeface="Consolas" panose="020B0609020204030204" pitchFamily="49" charset="0"/>
              </a:rPr>
              <a:t>        "r2_ff3": ff3.rsquared,</a:t>
            </a:r>
          </a:p>
          <a:p>
            <a:pPr marL="0" indent="0">
              <a:buNone/>
            </a:pPr>
            <a:r>
              <a:rPr lang="en-US" sz="1500" dirty="0">
                <a:latin typeface="Consolas" panose="020B0609020204030204" pitchFamily="49" charset="0"/>
              </a:rPr>
              <a:t>        "alpha_capm": capm.params["const"],</a:t>
            </a:r>
          </a:p>
          <a:p>
            <a:pPr marL="0" indent="0">
              <a:buNone/>
            </a:pPr>
            <a:r>
              <a:rPr lang="en-US" sz="1500" dirty="0">
                <a:latin typeface="Consolas" panose="020B0609020204030204" pitchFamily="49" charset="0"/>
              </a:rPr>
              <a:t>        "alpha_ff3": ff3.params["const"]</a:t>
            </a:r>
          </a:p>
          <a:p>
            <a:pPr marL="0" indent="0">
              <a:buNone/>
            </a:pPr>
            <a:r>
              <a:rPr lang="en-US" sz="1500" dirty="0">
                <a:latin typeface="Consolas" panose="020B0609020204030204" pitchFamily="49" charset="0"/>
              </a:rPr>
              <a:t>    })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4C6C7B6F-6959-170D-D173-D17070F2C7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78287" y="1703301"/>
            <a:ext cx="6209044" cy="4981924"/>
          </a:xfrm>
        </p:spPr>
        <p:txBody>
          <a:bodyPr>
            <a:normAutofit/>
          </a:bodyPr>
          <a:lstStyle/>
          <a:p>
            <a:r>
              <a:rPr lang="en-GB" sz="2000" dirty="0"/>
              <a:t>Automated estimation across 25 size–value portfolios</a:t>
            </a:r>
          </a:p>
          <a:p>
            <a:r>
              <a:rPr lang="en-GB" sz="2000" dirty="0"/>
              <a:t>CAPM and FF3 evaluated consistently using statsmodels</a:t>
            </a:r>
          </a:p>
          <a:p>
            <a:r>
              <a:rPr lang="en-GB" sz="2000" dirty="0"/>
              <a:t>Model fit (R²) and pricing errors (alpha) extracted programmatically</a:t>
            </a:r>
            <a:endParaRPr lang="LID4096" sz="2000" dirty="0"/>
          </a:p>
        </p:txBody>
      </p:sp>
    </p:spTree>
    <p:extLst>
      <p:ext uri="{BB962C8B-B14F-4D97-AF65-F5344CB8AC3E}">
        <p14:creationId xmlns:p14="http://schemas.microsoft.com/office/powerpoint/2010/main" val="27223461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19D586-9D34-B92F-55F7-89DA6DC2F2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Explanatory Power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6783B8-9632-BC21-EBEE-D510B329A1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2000" b="1" dirty="0"/>
              <a:t>Definition</a:t>
            </a:r>
          </a:p>
          <a:p>
            <a:r>
              <a:rPr lang="en-GB" sz="2000" dirty="0"/>
              <a:t>R² measures how much variation in returns is explained by the model</a:t>
            </a:r>
          </a:p>
          <a:p>
            <a:r>
              <a:rPr lang="en-GB" sz="2000" dirty="0"/>
              <a:t>Higher R² indicates better fit</a:t>
            </a:r>
          </a:p>
          <a:p>
            <a:endParaRPr lang="en-GB" sz="2000" dirty="0"/>
          </a:p>
          <a:p>
            <a:pPr marL="0" indent="0">
              <a:buNone/>
            </a:pPr>
            <a:endParaRPr lang="en-US" sz="2000" b="1" dirty="0"/>
          </a:p>
          <a:p>
            <a:pPr marL="0" indent="0">
              <a:buNone/>
            </a:pPr>
            <a:endParaRPr lang="en-US" sz="2000" b="1" dirty="0"/>
          </a:p>
          <a:p>
            <a:pPr marL="0" indent="0">
              <a:buNone/>
            </a:pPr>
            <a:r>
              <a:rPr lang="en-US" sz="2000" b="1" dirty="0"/>
              <a:t>Key numbers:</a:t>
            </a:r>
          </a:p>
          <a:p>
            <a:r>
              <a:rPr lang="en-US" sz="2000" dirty="0"/>
              <a:t>Average R² (CAPM): ~0.74</a:t>
            </a:r>
          </a:p>
          <a:p>
            <a:r>
              <a:rPr lang="en-US" sz="2000" dirty="0"/>
              <a:t>Average R² (FF3): ~0.91</a:t>
            </a:r>
          </a:p>
          <a:p>
            <a:r>
              <a:rPr lang="en-US" sz="2000" dirty="0"/>
              <a:t>Average improvement (</a:t>
            </a:r>
            <a:r>
              <a:rPr lang="el-GR" sz="2000" dirty="0"/>
              <a:t>Δ</a:t>
            </a:r>
            <a:r>
              <a:rPr lang="en-US" sz="2000" dirty="0"/>
              <a:t>R²): ~0.18</a:t>
            </a:r>
            <a:endParaRPr lang="LID4096" sz="2000" dirty="0"/>
          </a:p>
        </p:txBody>
      </p:sp>
    </p:spTree>
    <p:extLst>
      <p:ext uri="{BB962C8B-B14F-4D97-AF65-F5344CB8AC3E}">
        <p14:creationId xmlns:p14="http://schemas.microsoft.com/office/powerpoint/2010/main" val="6750847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030C8-FB83-4838-3FD5-4EFAC41CAD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Increase in R²: FF3 vs CAPM</a:t>
            </a:r>
            <a:endParaRPr lang="LID4096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D28DFC5-BF50-9B1A-2FA8-55994F68273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932477"/>
            <a:ext cx="2849545" cy="4351338"/>
          </a:xfrm>
        </p:spPr>
        <p:txBody>
          <a:bodyPr>
            <a:normAutofit/>
          </a:bodyPr>
          <a:lstStyle/>
          <a:p>
            <a:r>
              <a:rPr lang="en-GB" sz="2000" dirty="0"/>
              <a:t>FF3 improves explanatory power for every portfolio</a:t>
            </a:r>
          </a:p>
          <a:p>
            <a:r>
              <a:rPr lang="en-GB" sz="2000" dirty="0"/>
              <a:t>Largest gains observed in small and value-oriented portfolios</a:t>
            </a:r>
          </a:p>
          <a:p>
            <a:r>
              <a:rPr lang="en-GB" sz="2000" dirty="0"/>
              <a:t>Indicates systematic patterns CAPM fails to capture</a:t>
            </a:r>
            <a:endParaRPr lang="LID4096" sz="2000" dirty="0"/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64C5C51F-6F5D-A009-4574-AACDB15AB81C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87745" y="1990202"/>
            <a:ext cx="8118246" cy="40221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576040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B3484-4313-26C0-E357-C39DE51BCC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R² Comparison Across Models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4FDD9E-1D7C-AEFF-DF8B-AAB52AFDD70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GB" sz="2000" dirty="0"/>
              <a:t>All points lie above the 45-degree line</a:t>
            </a:r>
          </a:p>
          <a:p>
            <a:r>
              <a:rPr lang="en-US" sz="2000" dirty="0"/>
              <a:t>FF3 consistently dominates CAPM</a:t>
            </a:r>
            <a:endParaRPr lang="en-GB" sz="2000" dirty="0"/>
          </a:p>
          <a:p>
            <a:r>
              <a:rPr lang="en-GB" sz="2000" dirty="0"/>
              <a:t>Improvement is not driven by outliers</a:t>
            </a:r>
            <a:endParaRPr lang="LID4096" sz="2000" dirty="0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85FF8BD8-75A8-5280-5E36-8EC4DD5FD423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1494030"/>
            <a:ext cx="5181600" cy="51903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734587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958BBC-288F-9BA6-501E-CE2627A91B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Pricing Errors and Model Misspecification</a:t>
            </a:r>
            <a:endParaRPr lang="LID4096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8F1B0A1-F964-5FF6-56D4-E0AF5814C0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b="1" dirty="0"/>
              <a:t>Interpretation</a:t>
            </a:r>
            <a:endParaRPr lang="en-GB" sz="2000" dirty="0"/>
          </a:p>
          <a:p>
            <a:r>
              <a:rPr lang="en-GB" sz="2000" dirty="0"/>
              <a:t>Alpha measures unexplained excess return</a:t>
            </a:r>
          </a:p>
          <a:p>
            <a:r>
              <a:rPr lang="en-GB" sz="2000" dirty="0"/>
              <a:t>Statistically significant alpha suggests model misspecification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b="1" dirty="0"/>
          </a:p>
          <a:p>
            <a:pPr marL="0" indent="0">
              <a:buNone/>
            </a:pPr>
            <a:endParaRPr lang="en-US" sz="2000" b="1" dirty="0"/>
          </a:p>
          <a:p>
            <a:pPr marL="0" indent="0">
              <a:buNone/>
            </a:pPr>
            <a:r>
              <a:rPr lang="en-US" sz="2000" b="1" dirty="0"/>
              <a:t>Results:</a:t>
            </a:r>
          </a:p>
          <a:p>
            <a:r>
              <a:rPr lang="en-GB" sz="2000" dirty="0"/>
              <a:t>CAPM: 11 significant alphas (out of 25)</a:t>
            </a:r>
            <a:endParaRPr lang="en-US" sz="2000" dirty="0"/>
          </a:p>
          <a:p>
            <a:r>
              <a:rPr lang="en-GB" sz="2000" dirty="0"/>
              <a:t>FF3: 6 significant alphas (out of 25)</a:t>
            </a:r>
            <a:endParaRPr lang="LID4096" sz="2000" dirty="0"/>
          </a:p>
        </p:txBody>
      </p:sp>
    </p:spTree>
    <p:extLst>
      <p:ext uri="{BB962C8B-B14F-4D97-AF65-F5344CB8AC3E}">
        <p14:creationId xmlns:p14="http://schemas.microsoft.com/office/powerpoint/2010/main" val="21138478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BCF15B-7BF8-B833-0F9E-D7520615F8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Significant Alphas by Model</a:t>
            </a:r>
            <a:endParaRPr lang="LID4096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1D2DC80-CDC3-C911-8403-0244CC09822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302268" cy="4351338"/>
          </a:xfrm>
        </p:spPr>
        <p:txBody>
          <a:bodyPr>
            <a:normAutofit/>
          </a:bodyPr>
          <a:lstStyle/>
          <a:p>
            <a:r>
              <a:rPr lang="en-GB" sz="2000" dirty="0"/>
              <a:t>FF3 reduces pricing errors substantially</a:t>
            </a:r>
          </a:p>
          <a:p>
            <a:r>
              <a:rPr lang="en-GB" sz="2000" dirty="0"/>
              <a:t>Supports the inclusion of size and value factors</a:t>
            </a:r>
            <a:endParaRPr lang="LID4096" sz="2000" dirty="0"/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E433DB6F-2D42-3A94-2CA2-6D6050FCED96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40468" y="1690688"/>
            <a:ext cx="4802187" cy="48021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793204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9526AE-7C7B-12FF-29E0-172F905903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Interpretation</a:t>
            </a:r>
            <a:endParaRPr lang="LID4096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88D6AA2-8048-ABBC-13A4-9D02EEDFD7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2400" dirty="0"/>
              <a:t>Size and value factors capture systematic risk ignored by CAPM</a:t>
            </a:r>
          </a:p>
          <a:p>
            <a:r>
              <a:rPr lang="en-US" sz="2400" dirty="0"/>
              <a:t>FF3 delivers:</a:t>
            </a:r>
            <a:endParaRPr lang="en-GB" sz="2400" dirty="0"/>
          </a:p>
          <a:p>
            <a:pPr lvl="1"/>
            <a:r>
              <a:rPr lang="en-US" sz="2000" dirty="0"/>
              <a:t>Higher explanatory power</a:t>
            </a:r>
          </a:p>
          <a:p>
            <a:pPr lvl="1"/>
            <a:r>
              <a:rPr lang="en-US" sz="2000" dirty="0"/>
              <a:t>Lower pricing errors</a:t>
            </a:r>
          </a:p>
          <a:p>
            <a:r>
              <a:rPr lang="en-GB" sz="2400" dirty="0"/>
              <a:t>Results align with established empirical asset pricing literature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1327009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EDA1A-1224-A4A5-7E5A-EEB2EE180C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544190-2005-24DF-0793-686CB228AC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2000" dirty="0"/>
              <a:t>FF3 significantly outperforms CAPM across diversified portfolios</a:t>
            </a:r>
          </a:p>
          <a:p>
            <a:r>
              <a:rPr lang="en-GB" sz="2000" dirty="0"/>
              <a:t>Improvements are economically meaningful and statistically robust</a:t>
            </a:r>
          </a:p>
          <a:p>
            <a:r>
              <a:rPr lang="en-GB" sz="2000" dirty="0"/>
              <a:t>Demonstrates how factor models enhance return explanation beyond market risk alone</a:t>
            </a:r>
            <a:endParaRPr lang="LID4096" sz="2000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871FDB-411D-61DA-AB16-B135735FD6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Fully reproducible Python-based analysis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34621745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</TotalTime>
  <Words>615</Words>
  <Application>Microsoft Office PowerPoint</Application>
  <PresentationFormat>Widescreen</PresentationFormat>
  <Paragraphs>104</Paragraphs>
  <Slides>13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Aptos</vt:lpstr>
      <vt:lpstr>Arial</vt:lpstr>
      <vt:lpstr>Calibri</vt:lpstr>
      <vt:lpstr>Calibri Light</vt:lpstr>
      <vt:lpstr>Consolas</vt:lpstr>
      <vt:lpstr>Office 2013 - 2022 Theme</vt:lpstr>
      <vt:lpstr>CAPM vs Fama–French Three-Factor Model An Empirical Analysis Using 25 Size–Value Portfolios   A Data Analytics &amp; Quantitative Finance Project</vt:lpstr>
      <vt:lpstr>Motivation &amp; Research Question</vt:lpstr>
      <vt:lpstr>Data &amp; Scope</vt:lpstr>
      <vt:lpstr>Methodology</vt:lpstr>
      <vt:lpstr>Model Specifications</vt:lpstr>
      <vt:lpstr>Implementation Snapshot (Python) OLS estimation of CAPM and FF3 across size–value portfolios</vt:lpstr>
      <vt:lpstr>Model Explanatory Power</vt:lpstr>
      <vt:lpstr>Increase in R²: FF3 vs CAPM</vt:lpstr>
      <vt:lpstr>R² Comparison Across Models</vt:lpstr>
      <vt:lpstr>Pricing Errors and Model Misspecification</vt:lpstr>
      <vt:lpstr>Significant Alphas by Model</vt:lpstr>
      <vt:lpstr>Interpretation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Itay Feigin</dc:creator>
  <cp:lastModifiedBy>Itay Feigin</cp:lastModifiedBy>
  <cp:revision>1</cp:revision>
  <dcterms:created xsi:type="dcterms:W3CDTF">2025-12-30T18:09:39Z</dcterms:created>
  <dcterms:modified xsi:type="dcterms:W3CDTF">2026-01-02T18:34:40Z</dcterms:modified>
</cp:coreProperties>
</file>